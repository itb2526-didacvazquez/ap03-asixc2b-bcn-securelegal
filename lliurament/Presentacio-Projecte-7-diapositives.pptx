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2" r:id="rId13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0D6EFD"/>
                </a:solidFill>
                <a:latin typeface="Calibri"/>
              </a:defRPr>
            </a:pPr>
            <a:r>
              <a:t>CFGS ASIXc2 — MÒDUL 0376 (RA2) — INSTITUT TECNOLÒGIC DE BARCELONA</a:t>
            </a:r>
          </a:p>
          <a:p>
            <a:pPr>
              <a:spcAft>
                <a:spcPts val="600"/>
              </a:spcAft>
              <a:defRPr sz="3400" b="1">
                <a:solidFill>
                  <a:srgbClr val="102C57"/>
                </a:solidFill>
                <a:latin typeface="Calibri"/>
              </a:defRPr>
            </a:pPr>
            <a:r>
              <a:t>Implantació de CMS On-Premise</a:t>
            </a:r>
          </a:p>
          <a:p>
            <a:pPr>
              <a:defRPr sz="1600">
                <a:solidFill>
                  <a:srgbClr val="355F8E"/>
                </a:solidFill>
                <a:latin typeface="Calibri"/>
              </a:defRPr>
            </a:pPr>
            <a:r>
              <a:t>Solució Web Corporativa, Intranet i Àrea de Clients amb Drupal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49039"/>
            <a:ext cx="6583680" cy="7772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79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02C57"/>
                </a:solidFill>
                <a:latin typeface="Calibri"/>
              </a:rPr>
              <a:t>Emilia — </a:t>
            </a:r>
            <a:r>
              <a:rPr sz="1100" b="1">
                <a:solidFill>
                  <a:srgbClr val="0D6EFD"/>
                </a:solidFill>
                <a:latin typeface="Calibri"/>
              </a:rPr>
              <a:t>Rol A: Project Manager &amp; Business Analyst</a:t>
            </a:r>
          </a:p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Planificació, Business Case i coordinació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6583680" cy="7772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02C57"/>
                </a:solidFill>
                <a:latin typeface="Calibri"/>
              </a:rPr>
              <a:t>Didac — </a:t>
            </a:r>
            <a:r>
              <a:rPr sz="1100" b="1">
                <a:solidFill>
                  <a:srgbClr val="0D6EFD"/>
                </a:solidFill>
                <a:latin typeface="Calibri"/>
              </a:rPr>
              <a:t>Rol B: SysAdmin &amp; DevOps</a:t>
            </a:r>
          </a:p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Docker Compose, xarxes, volums i banc de proves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6583680" cy="7772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02C57"/>
                </a:solidFill>
                <a:latin typeface="Calibri"/>
              </a:rPr>
              <a:t>Aleix — </a:t>
            </a:r>
            <a:r>
              <a:rPr sz="1100" b="1">
                <a:solidFill>
                  <a:srgbClr val="0D6EFD"/>
                </a:solidFill>
                <a:latin typeface="Calibri"/>
              </a:rPr>
              <a:t>Rol C: CMS Developer &amp; QA</a:t>
            </a:r>
          </a:p>
          <a:p>
            <a:pPr>
              <a:defRPr sz="1000">
                <a:solidFill>
                  <a:srgbClr val="6C757D"/>
                </a:solidFill>
                <a:latin typeface="Calibri"/>
              </a:defRPr>
            </a:pPr>
            <a:r>
              <a:t>Configuració Drupal, mòdul propi i 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005840"/>
            <a:ext cx="3749039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b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011680"/>
            <a:ext cx="3200400" cy="17412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63840" y="43891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02C57"/>
                </a:solidFill>
                <a:latin typeface="Calibri"/>
              </a:defRPr>
            </a:pPr>
            <a:r>
              <a:t>CLIENT: BCN SecureLegal S.L.</a:t>
            </a:r>
          </a:p>
          <a:p>
            <a:pPr algn="ctr">
              <a:spcAft>
                <a:spcPts val="800"/>
              </a:spcAft>
              <a:defRPr sz="1050">
                <a:solidFill>
                  <a:srgbClr val="355F8E"/>
                </a:solidFill>
                <a:latin typeface="Calibri"/>
              </a:defRPr>
            </a:pPr>
            <a:r>
              <a:t>Serveis Jurídics • RGPD • NIS2</a:t>
            </a:r>
          </a:p>
          <a:p>
            <a:pPr algn="ctr">
              <a:defRPr sz="950">
                <a:solidFill>
                  <a:srgbClr val="6C757D"/>
                </a:solidFill>
                <a:latin typeface="Calibri"/>
              </a:defRPr>
            </a:pPr>
            <a:r>
              <a:t>Barcelona (Glòries) &amp; Madrid | 28/10/2026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6EFD"/>
                </a:solidFill>
                <a:latin typeface="Calibri"/>
              </a:defRPr>
            </a:pPr>
            <a:r>
              <a:t>BCN SECURELEGAL S.L. — CMS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1. Perfil Corporatiu i Objectius de Negoci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1887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02C57"/>
                </a:solidFill>
                <a:latin typeface="Calibri"/>
              </a:defRPr>
            </a:pPr>
            <a:r>
              <a:t>25 Professionals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t>Advocats TIC, auditors de ciberseguretat i consultors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11887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355F8E"/>
                </a:solidFill>
                <a:latin typeface="Calibri"/>
              </a:defRPr>
            </a:pPr>
            <a:r>
              <a:t>Model B2B Especialitzat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t>Pimes, hospitals privats i administració pública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11887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630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98754"/>
                </a:solidFill>
                <a:latin typeface="Calibri"/>
              </a:defRPr>
            </a:pPr>
            <a:r>
              <a:t>100% On-Premise</a:t>
            </a:r>
          </a:p>
          <a:p>
            <a:pPr>
              <a:defRPr sz="1050">
                <a:solidFill>
                  <a:srgbClr val="212529"/>
                </a:solidFill>
                <a:latin typeface="Calibri"/>
              </a:defRPr>
            </a:pPr>
            <a:r>
              <a:t>Servidors locals al CPD propi: secret professional i RGPD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2578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99232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• Blog Jurídic i Notícies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Difusió d'actualitat legal, resolucions sancionadores AEPD i directiva NIS2 per a captació de clients.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834640"/>
            <a:ext cx="52578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999232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• Catàleg de Serveis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Fitxes estructurades de serveis jurídics, preus orientatius i formularis segurs de sol·licitud.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578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36592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• Intranet Corporativa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Repositori intern de plantilles, guies i protocols amb accés protegit per rol d'empleat.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572000"/>
            <a:ext cx="52578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736592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• Àrea de Clients Privada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Sistema de fitxers privats aïllat per al lliurament confidencial d'informes d'auditoria.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6EFD"/>
                </a:solidFill>
                <a:latin typeface="Calibri"/>
              </a:defRPr>
            </a:pPr>
            <a:r>
              <a:t>BCN SECURELEGAL S.L. — CMS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2. Arquitectura de Desplegament: Docker Compose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15087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" cy="1508760"/>
          </a:xfrm>
          <a:prstGeom prst="rect">
            <a:avLst/>
          </a:prstGeom>
          <a:solidFill>
            <a:srgbClr val="355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36192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Servei Web: Drupal 10.6.19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Imatge oficial 'drupal:10.6.19-apache' (Apache 2.4.69, PHP 8.3)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Port publicat: 127.0.0.1:8080 -&gt; 80 (accés web)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303520" cy="15087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137160" cy="150876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27832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Servei BBDD: MariaDB 10.11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Xarxa bridge interna de Docker; port 3306 ocult al host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Healthcheck actiu: healthcheck.sh --connect --innodb_initialized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303520" cy="15087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137160" cy="15087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919472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Persistència de Dades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Volums 'drupal_sites' i 'drupal_private' (documents fora de l'arrel web)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Volum 'db_data' per a les taules SQL de MariaDB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12064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cker_compose_n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8760"/>
            <a:ext cx="4389120" cy="38568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56235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C757D"/>
                </a:solidFill>
                <a:latin typeface="Calibri"/>
              </a:defRPr>
            </a:pPr>
            <a:r>
              <a:t>Configuració real docker-compose.yml: depends_on condicional i volums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6EFD"/>
                </a:solidFill>
                <a:latin typeface="Calibri"/>
              </a:defRPr>
            </a:pPr>
            <a:r>
              <a:t>BCN SECURELEGAL S.L. — CMS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3. Entorn de Desenvolupament i Edició en Calent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892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2C57"/>
                </a:solidFill>
                <a:latin typeface="Calibri"/>
              </a:defRPr>
            </a:pPr>
            <a:r>
              <a:t>Mecanisme de Bind Mount</a:t>
            </a:r>
          </a:p>
          <a:p>
            <a:pPr>
              <a:spcAft>
                <a:spcPts val="200"/>
              </a:spcAft>
              <a:defRPr sz="1100">
                <a:latin typeface="Calibri"/>
              </a:defRPr>
            </a:pPr>
            <a:r>
              <a:t>Compartició directa entre màquina host i contenidor:</a:t>
            </a:r>
          </a:p>
          <a:p>
            <a:pPr>
              <a:spcAft>
                <a:spcPts val="1200"/>
              </a:spcAft>
              <a:defRPr sz="950" b="1">
                <a:solidFill>
                  <a:srgbClr val="355F8E"/>
                </a:solidFill>
                <a:latin typeface="Consolas"/>
              </a:defRPr>
            </a:pPr>
            <a:r>
              <a:t>./modules/custom/bsl_client_docs  --&gt;  /var/www/html/.../custom/...</a:t>
            </a:r>
          </a:p>
          <a:p>
            <a:pPr>
              <a:spcAft>
                <a:spcPts val="600"/>
              </a:spcAft>
              <a:defRPr sz="1500" b="1">
                <a:solidFill>
                  <a:srgbClr val="102C57"/>
                </a:solidFill>
                <a:latin typeface="Calibri"/>
              </a:defRPr>
            </a:pPr>
            <a:r>
              <a:t>Validació Tècnica d'Edició en Calent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12529"/>
                </a:solidFill>
              </a:rPr>
              <a:t>1. Codi inicial: </a:t>
            </a:r>
            <a:r>
              <a:rPr sz="1050">
                <a:solidFill>
                  <a:srgbClr val="212529"/>
                </a:solidFill>
              </a:rPr>
              <a:t>Mòdul carregat mostrant 'versio 1'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12529"/>
                </a:solidFill>
              </a:rPr>
              <a:t>2. docker inspect: </a:t>
            </a:r>
            <a:r>
              <a:rPr sz="1050">
                <a:solidFill>
                  <a:srgbClr val="212529"/>
                </a:solidFill>
              </a:rPr>
              <a:t>StartedAt inicial: 18:21:10Z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12529"/>
                </a:solidFill>
              </a:rPr>
              <a:t>3. Comanda sed: </a:t>
            </a:r>
            <a:r>
              <a:rPr sz="1050">
                <a:solidFill>
                  <a:srgbClr val="212529"/>
                </a:solidFill>
              </a:rPr>
              <a:t>sed -i 's/versio 1/versio 2/' al host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12529"/>
                </a:solidFill>
              </a:rPr>
              <a:t>4. docker inspect: </a:t>
            </a:r>
            <a:r>
              <a:rPr sz="1050">
                <a:solidFill>
                  <a:srgbClr val="212529"/>
                </a:solidFill>
              </a:rPr>
              <a:t>StartedAt idèntica: 18:21:10Z (zero reinicis)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212529"/>
                </a:solidFill>
              </a:rPr>
              <a:t>5. Resultat web: </a:t>
            </a:r>
            <a:r>
              <a:rPr sz="1050">
                <a:solidFill>
                  <a:srgbClr val="212529"/>
                </a:solidFill>
              </a:rPr>
              <a:t>Missatge 'versio 2' immediat al navegador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539496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4846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102C57"/>
                </a:solidFill>
                <a:latin typeface="Calibri"/>
              </a:defRPr>
            </a:pPr>
            <a:r>
              <a:t>Modificació de codi en calent des del terminal host:</a:t>
            </a:r>
          </a:p>
        </p:txBody>
      </p:sp>
      <p:pic>
        <p:nvPicPr>
          <p:cNvPr id="8" name="Picture 7" descr="sed_com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4846320" cy="3139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2377440"/>
            <a:ext cx="4846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102C57"/>
                </a:solidFill>
                <a:latin typeface="Calibri"/>
              </a:defRPr>
            </a:pPr>
            <a:r>
              <a:t>Resultat immediat a la interfície de Drupal (versió 2):</a:t>
            </a:r>
          </a:p>
        </p:txBody>
      </p:sp>
      <p:pic>
        <p:nvPicPr>
          <p:cNvPr id="10" name="Picture 9" descr="drupal_article_created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651760"/>
            <a:ext cx="4846320" cy="25304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532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C757D"/>
                </a:solidFill>
                <a:latin typeface="Calibri"/>
              </a:defRPr>
            </a:pPr>
            <a:r>
              <a:t>Evidència real: StartedAt inalterat a docker inspect (zero reinicis de contenidor)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6EFD"/>
                </a:solidFill>
                <a:latin typeface="Calibri"/>
              </a:defRPr>
            </a:pPr>
            <a:r>
              <a:t>BCN SECURELEGAL S.L. — CMS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4. Planificació Temporal, Gantt i Repartiment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6916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2C57"/>
                </a:solidFill>
                <a:latin typeface="Calibri"/>
              </a:defRPr>
            </a:pPr>
            <a:r>
              <a:t>Emilia (Rol A: PM)</a:t>
            </a:r>
          </a:p>
          <a:p>
            <a:pPr>
              <a:spcAft>
                <a:spcPts val="400"/>
              </a:spcAft>
              <a:defRPr sz="1600" b="1">
                <a:solidFill>
                  <a:srgbClr val="102C57"/>
                </a:solidFill>
                <a:latin typeface="Calibri"/>
              </a:defRPr>
            </a:pPr>
            <a:r>
              <a:t>26.7 h ponderades (33.4% del projecte)</a:t>
            </a:r>
          </a:p>
          <a:p>
            <a:pPr>
              <a:defRPr sz="1000">
                <a:solidFill>
                  <a:srgbClr val="212529"/>
                </a:solidFill>
                <a:latin typeface="Calibri"/>
              </a:defRPr>
            </a:pPr>
            <a:r>
              <a:t>Business Case, memòria executiva i coordinació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16916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2C57"/>
                </a:solidFill>
                <a:latin typeface="Calibri"/>
              </a:defRPr>
            </a:pPr>
            <a:r>
              <a:t>Didac (Rol B: DevOps)</a:t>
            </a:r>
          </a:p>
          <a:p>
            <a:pPr>
              <a:spcAft>
                <a:spcPts val="400"/>
              </a:spcAft>
              <a:defRPr sz="1600" b="1">
                <a:solidFill>
                  <a:srgbClr val="355F8E"/>
                </a:solidFill>
                <a:latin typeface="Calibri"/>
              </a:defRPr>
            </a:pPr>
            <a:r>
              <a:t>26.8 h ponderades (33.5% del projecte)</a:t>
            </a:r>
          </a:p>
          <a:p>
            <a:pPr>
              <a:defRPr sz="1000">
                <a:solidFill>
                  <a:srgbClr val="212529"/>
                </a:solidFill>
                <a:latin typeface="Calibri"/>
              </a:defRPr>
            </a:pPr>
            <a:r>
              <a:t>Docker Compose, xarxes, volums i banc de proves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16916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2C57"/>
                </a:solidFill>
                <a:latin typeface="Calibri"/>
              </a:defRPr>
            </a:pPr>
            <a:r>
              <a:t>Aleix (Rol C: Dev/QA)</a:t>
            </a:r>
          </a:p>
          <a:p>
            <a:pPr>
              <a:spcAft>
                <a:spcPts val="400"/>
              </a:spcAft>
              <a:defRPr sz="1600" b="1">
                <a:solidFill>
                  <a:srgbClr val="198754"/>
                </a:solidFill>
                <a:latin typeface="Calibri"/>
              </a:defRPr>
            </a:pPr>
            <a:r>
              <a:t>26.5 h ponderades (33.1% del projecte)</a:t>
            </a:r>
          </a:p>
          <a:p>
            <a:pPr>
              <a:defRPr sz="1000">
                <a:solidFill>
                  <a:srgbClr val="212529"/>
                </a:solidFill>
                <a:latin typeface="Calibri"/>
              </a:defRPr>
            </a:pPr>
            <a:r>
              <a:t>Configuració Drupal, mòdul propi i 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69848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2C57"/>
                </a:solidFill>
                <a:latin typeface="Calibri"/>
              </a:defRPr>
            </a:pPr>
            <a:r>
              <a:t>CRONOGRAMA DE DESPLEGAMENT EN 16 DIES HÀBILS (80 HORES TOTALS)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931920"/>
            <a:ext cx="2560320" cy="320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68496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102C57"/>
                </a:solidFill>
                <a:latin typeface="Calibri"/>
              </a:defRPr>
            </a:pPr>
            <a:r>
              <a:t>Fase 1: Anàlisi i Requisits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931920"/>
            <a:ext cx="1828800" cy="320040"/>
          </a:xfrm>
          <a:prstGeom prst="roundRect">
            <a:avLst/>
          </a:prstGeom>
          <a:solidFill>
            <a:srgbClr val="102C57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79" y="3968496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Dies 1 - 3 | Business Case i elecció Drupal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315968"/>
            <a:ext cx="2560320" cy="320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52544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55F8E"/>
                </a:solidFill>
                <a:latin typeface="Calibri"/>
              </a:defRPr>
            </a:pPr>
            <a:r>
              <a:t>Fase 2: Infraestructura Docker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9" y="4315968"/>
            <a:ext cx="1828800" cy="320040"/>
          </a:xfrm>
          <a:prstGeom prst="roundRect">
            <a:avLst/>
          </a:prstGeom>
          <a:solidFill>
            <a:srgbClr val="355F8E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199" y="4352544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Dies 4 - 6 | Docker Compose i volums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700016"/>
            <a:ext cx="2560320" cy="320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3659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102C57"/>
                </a:solidFill>
                <a:latin typeface="Calibri"/>
              </a:defRPr>
            </a:pPr>
            <a:r>
              <a:t>Fase 3: Instal·lació Drupal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4700016"/>
            <a:ext cx="1828800" cy="320040"/>
          </a:xfrm>
          <a:prstGeom prst="roundRect">
            <a:avLst/>
          </a:prstGeom>
          <a:solidFill>
            <a:srgbClr val="102C57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19" y="4736592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Dies 7 - 9 | Instal·lador i MariaDB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5084064"/>
            <a:ext cx="2560320" cy="320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355F8E"/>
                </a:solidFill>
                <a:latin typeface="Calibri"/>
              </a:defRPr>
            </a:pPr>
            <a:r>
              <a:t>Fase 4: Mòdul bsl_client_docs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5084064"/>
            <a:ext cx="1828800" cy="320040"/>
          </a:xfrm>
          <a:prstGeom prst="roundRect">
            <a:avLst/>
          </a:prstGeom>
          <a:solidFill>
            <a:srgbClr val="355F8E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5120640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Dies 10 - 12 | Bind mount i edició en calent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5468112"/>
            <a:ext cx="2560320" cy="320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504688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198754"/>
                </a:solidFill>
                <a:latin typeface="Calibri"/>
              </a:defRPr>
            </a:pPr>
            <a:r>
              <a:t>Fase 5: Validació i QA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5468112"/>
            <a:ext cx="1828800" cy="320040"/>
          </a:xfrm>
          <a:prstGeom prst="roundRect">
            <a:avLst/>
          </a:prstGeom>
          <a:solidFill>
            <a:srgbClr val="198754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5504688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Dies 13 - 14 | Article NIS2 i depuració logs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852160"/>
            <a:ext cx="2560320" cy="320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888736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102C57"/>
                </a:solidFill>
                <a:latin typeface="Calibri"/>
              </a:defRPr>
            </a:pPr>
            <a:r>
              <a:t>Fase 6: Memòria i Presentació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5852160"/>
            <a:ext cx="1828800" cy="320040"/>
          </a:xfrm>
          <a:prstGeom prst="roundRect">
            <a:avLst/>
          </a:prstGeom>
          <a:solidFill>
            <a:srgbClr val="102C57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5888736"/>
            <a:ext cx="1645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Dies 15 - 16 | Lliurament final i defensa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6EFD"/>
                </a:solidFill>
                <a:latin typeface="Calibri"/>
              </a:defRPr>
            </a:pPr>
            <a:r>
              <a:t>BCN SECURELEGAL S.L. — CMS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6. Conclusions i Resultats del Projecte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92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2C57"/>
                </a:solidFill>
                <a:latin typeface="Calibri"/>
              </a:defRPr>
            </a:pPr>
            <a:r>
              <a:t>Fites Tècniques Assolides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98754"/>
                </a:solidFill>
              </a:rPr>
              <a:t>✔ Drupal 10.6.19 Desplegat
</a:t>
            </a:r>
            <a:r>
              <a:rPr sz="1000">
                <a:solidFill>
                  <a:srgbClr val="212529"/>
                </a:solidFill>
              </a:rPr>
              <a:t>Pila On-Premise operativa sobre MariaDB 10.11 i Apache 2.4.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98754"/>
                </a:solidFill>
              </a:rPr>
              <a:t>✔ Contingut Publicat
</a:t>
            </a:r>
            <a:r>
              <a:rPr sz="1000">
                <a:solidFill>
                  <a:srgbClr val="212529"/>
                </a:solidFill>
              </a:rPr>
              <a:t>Article sobre la directiva NIS2 creat i publicat per l'administrador.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98754"/>
                </a:solidFill>
              </a:rPr>
              <a:t>✔ Mòdul Propi Operatiu
</a:t>
            </a:r>
            <a:r>
              <a:rPr sz="1000">
                <a:solidFill>
                  <a:srgbClr val="212529"/>
                </a:solidFill>
              </a:rPr>
              <a:t>Extensió de traçabilitat bsl_client_docs reconeguda i provada en calent.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98754"/>
                </a:solidFill>
              </a:rPr>
              <a:t>✔ Persistència Assegurada
</a:t>
            </a:r>
            <a:r>
              <a:rPr sz="1000">
                <a:solidFill>
                  <a:srgbClr val="212529"/>
                </a:solidFill>
              </a:rPr>
              <a:t>Volums amb nom protegint la base de dades i fitxers públics.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98754"/>
                </a:solidFill>
              </a:rPr>
              <a:t>✔ Sobirania Total de Dades
</a:t>
            </a:r>
            <a:r>
              <a:rPr sz="1000">
                <a:solidFill>
                  <a:srgbClr val="212529"/>
                </a:solidFill>
              </a:rPr>
              <a:t>Arquitectura local 100% On-Premise conforme amb el RGPD.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3035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upal_admin_conten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4937760" cy="257819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4480560"/>
            <a:ext cx="4937760" cy="1463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480560"/>
            <a:ext cx="109728" cy="14630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61772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98754"/>
                </a:solidFill>
                <a:latin typeface="Calibri"/>
              </a:defRPr>
            </a:pPr>
            <a:r>
              <a:t>ESTAT DEL PROJECTE: VALIDAT I LLEST</a:t>
            </a:r>
          </a:p>
          <a:p>
            <a:pPr>
              <a:defRPr sz="1000">
                <a:solidFill>
                  <a:srgbClr val="212529"/>
                </a:solidFill>
                <a:latin typeface="Calibri"/>
              </a:defRPr>
            </a:pPr>
            <a:r>
              <a:t>• Panell d'administració de continguts actiu amb article NIS2.</a:t>
            </a:r>
            <a:br/>
            <a:r>
              <a:t>• Banc de proves superat amb zero incidències crítiques.</a:t>
            </a:r>
            <a:br/>
            <a:r>
              <a:t>• Documentació executiva preparada per a presentació.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6EFD"/>
                </a:solidFill>
                <a:latin typeface="Calibri"/>
              </a:defRPr>
            </a:pPr>
            <a:r>
              <a:t>BCN SECURELEGAL S.L. — CMS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02C57"/>
                </a:solidFill>
                <a:latin typeface="Calibri"/>
              </a:defRPr>
            </a:pPr>
            <a:r>
              <a:t>5. Cultura Oberta i Traçabilitat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15087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" cy="1508760"/>
          </a:xfrm>
          <a:prstGeom prst="rect">
            <a:avLst/>
          </a:prstGeom>
          <a:solidFill>
            <a:srgbClr val="355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36192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Codi auditable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Llicència GPLv2+: sense vendor lock-in ni telemetria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Configuració com a codi (YAML) versionada a 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303520" cy="15087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137160" cy="150876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27832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Traçabilitat de cada canvi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Kanban → branca → PR revisada → CI → tag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Autor, data i motiu de cada modificació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303520" cy="15087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137160" cy="15087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919472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Compliment normatiu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RGPD art. 5.2: responsabilitat proactiva</a:t>
            </a:r>
          </a:p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• Evidència d'auditoria lliurable al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12064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dena de tracabilitat"/>
          <p:cNvSpPr txBox="1"/>
          <p:nvPr/>
        </p:nvSpPr>
        <p:spPr>
          <a:xfrm>
            <a:off x="6675120" y="1554480"/>
            <a:ext cx="4389120" cy="3700000"/>
          </a:xfrm>
          <a:prstGeom prst="rect">
            <a:avLst/>
          </a:prstGeom>
          <a:noFill/>
        </p:spPr>
        <p:txBody>
          <a:bodyPr wrap="square" lIns="91440" rIns="91440" tIns="0" bIns="45720" anchor="t">
            <a:norm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02C57"/>
                </a:solidFill>
                <a:latin typeface="Calibri"/>
              </a:defRPr>
            </a:pPr>
            <a:r>
              <a:t>Cadena de traçabilitat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1. Tasca al Kanban (issue #N)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2. Branca feat/N-descripcio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3. Commits (Conventional Commits)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4. Pull Request + revisió creuada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5. CI: yamllint, phpcs, compose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6. Merge a main + tag v1.0.x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6235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C757D"/>
                </a:solidFill>
                <a:latin typeface="Calibri"/>
              </a:defRPr>
            </a:pPr>
            <a:r>
              <a:t>L'historial de Git és el registre d'auditoria del projecte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