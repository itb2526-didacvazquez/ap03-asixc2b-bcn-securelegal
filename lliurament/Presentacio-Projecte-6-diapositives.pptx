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0D6EFD"/>
                </a:solidFill>
                <a:latin typeface="Calibri"/>
              </a:defRPr>
            </a:pPr>
            <a:r>
              <a:t>CFGS ASIXc2 — MÒDUL 0376 (RA2) — INSTITUT TECNOLÒGIC DE BARCELONA</a:t>
            </a:r>
          </a:p>
          <a:p>
            <a:pPr>
              <a:spcAft>
                <a:spcPts val="600"/>
              </a:spcAft>
              <a:defRPr sz="3400" b="1">
                <a:solidFill>
                  <a:srgbClr val="102C57"/>
                </a:solidFill>
                <a:latin typeface="Calibri"/>
              </a:defRPr>
            </a:pPr>
            <a:r>
              <a:t>Implantació de CMS On-Premise</a:t>
            </a:r>
          </a:p>
          <a:p>
            <a:pPr>
              <a:defRPr sz="1600">
                <a:solidFill>
                  <a:srgbClr val="355F8E"/>
                </a:solidFill>
                <a:latin typeface="Calibri"/>
              </a:defRPr>
            </a:pPr>
            <a:r>
              <a:t>Solució Web Corporativa, Intranet i Àrea de Clients amb Drupal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658368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79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2C57"/>
                </a:solidFill>
                <a:latin typeface="Calibri"/>
              </a:rPr>
              <a:t>Emilia — </a:t>
            </a:r>
            <a:r>
              <a:rPr sz="1100" b="1">
                <a:solidFill>
                  <a:srgbClr val="0D6EFD"/>
                </a:solidFill>
                <a:latin typeface="Calibri"/>
              </a:rPr>
              <a:t>Rol A: Project Manager &amp; Business Analyst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Planificació, Business Case i coordinació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658368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2C57"/>
                </a:solidFill>
                <a:latin typeface="Calibri"/>
              </a:rPr>
              <a:t>Didac — </a:t>
            </a:r>
            <a:r>
              <a:rPr sz="1100" b="1">
                <a:solidFill>
                  <a:srgbClr val="0D6EFD"/>
                </a:solidFill>
                <a:latin typeface="Calibri"/>
              </a:rPr>
              <a:t>Rol B: SysAdmin &amp; DevOps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Docker Compose, xarxes, volums i banc de proves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658368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2C57"/>
                </a:solidFill>
                <a:latin typeface="Calibri"/>
              </a:rPr>
              <a:t>Aleix — </a:t>
            </a:r>
            <a:r>
              <a:rPr sz="1100" b="1">
                <a:solidFill>
                  <a:srgbClr val="0D6EFD"/>
                </a:solidFill>
                <a:latin typeface="Calibri"/>
              </a:rPr>
              <a:t>Rol C: CMS Developer &amp; QA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Configuració Drupal, mòdul propi i 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005840"/>
            <a:ext cx="3749039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b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011680"/>
            <a:ext cx="3200400" cy="17412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4389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Calibri"/>
              </a:defRPr>
            </a:pPr>
            <a:r>
              <a:t>CLIENT: BCN SecureLegal S.L.</a:t>
            </a:r>
          </a:p>
          <a:p>
            <a:pPr algn="ctr">
              <a:spcAft>
                <a:spcPts val="800"/>
              </a:spcAft>
              <a:defRPr sz="1050">
                <a:solidFill>
                  <a:srgbClr val="355F8E"/>
                </a:solidFill>
                <a:latin typeface="Calibri"/>
              </a:defRPr>
            </a:pPr>
            <a:r>
              <a:t>Serveis Jurídics • RGPD • NIS2</a:t>
            </a:r>
          </a:p>
          <a:p>
            <a:pPr algn="ctr">
              <a:defRPr sz="950">
                <a:solidFill>
                  <a:srgbClr val="6C757D"/>
                </a:solidFill>
                <a:latin typeface="Calibri"/>
              </a:defRPr>
            </a:pPr>
            <a:r>
              <a:t>Barcelona (Glòries) &amp; Madrid | 28/10/2026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1. Perfil Corporatiu i Objectius de Negoci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1887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02C57"/>
                </a:solidFill>
                <a:latin typeface="Calibri"/>
              </a:defRPr>
            </a:pPr>
            <a:r>
              <a:t>25 Professionals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Advocats TIC, auditors de ciberseguretat i consultors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355F8E"/>
                </a:solidFill>
                <a:latin typeface="Calibri"/>
              </a:defRPr>
            </a:pPr>
            <a:r>
              <a:t>Model B2B Especialitzat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Pimes, hospitals privats i administració pública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98754"/>
                </a:solidFill>
                <a:latin typeface="Calibri"/>
              </a:defRPr>
            </a:pPr>
            <a:r>
              <a:t>100% On-Premise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Servidors locals al CPD propi: secret professional i RGPD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Blog Jurídic i Notícies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Difusió d'actualitat legal, resolucions sancionadores AEPD i directiva NIS2 per a captació de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3464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9923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Catàleg de Serveis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Fitxes estructurades de serveis jurídics, preus orientatius i formularis segurs de sol·licitud.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3659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Intranet Corporativa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Repositori intern de plantilles, guies i protocols amb accés protegit per rol d'empleat.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57200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Àrea de Clients Privada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Sistema de fitxers privats aïllat per al lliurament confidencial d'informes d'auditoria.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2. Arquitectura de Desplegament: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" cy="1508760"/>
          </a:xfrm>
          <a:prstGeom prst="rect">
            <a:avLst/>
          </a:prstGeom>
          <a:solidFill>
            <a:srgbClr val="35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3619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Servei Web: Drupal 10.6.19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Imatge oficial 'drupal:10.6.19-apache' (Apache 2.4.69, PHP 8.3)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Port publicat: 127.0.0.1:8080 -&gt; 80 (accés web)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137160" cy="1508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Servei BBDD: MariaDB 10.11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Xarxa bridge interna de Docker; port 3306 ocult al host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Healthcheck actiu: healthcheck.sh --connect --innodb_initialized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137160" cy="1508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1947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Persistència de Dades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Volums 'drupal_sites' i 'drupal_private' (documents fora de l'arrel web)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Volum 'db_data' per a les taules SQL de MariaDB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ker_compose_n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389120" cy="38568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623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C757D"/>
                </a:solidFill>
                <a:latin typeface="Calibri"/>
              </a:defRPr>
            </a:pPr>
            <a:r>
              <a:t>Configuració real docker-compose.yml: depends_on condicional i volums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3. Entorn de Desenvolupament i Edició en Calent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892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C57"/>
                </a:solidFill>
                <a:latin typeface="Calibri"/>
              </a:defRPr>
            </a:pPr>
            <a:r>
              <a:t>Mecanisme de Bind Mount</a:t>
            </a:r>
          </a:p>
          <a:p>
            <a:pPr>
              <a:spcAft>
                <a:spcPts val="200"/>
              </a:spcAft>
              <a:defRPr sz="1100">
                <a:latin typeface="Calibri"/>
              </a:defRPr>
            </a:pPr>
            <a:r>
              <a:t>Compartició directa entre màquina host i contenidor:</a:t>
            </a:r>
          </a:p>
          <a:p>
            <a:pPr>
              <a:spcAft>
                <a:spcPts val="1200"/>
              </a:spcAft>
              <a:defRPr sz="950" b="1">
                <a:solidFill>
                  <a:srgbClr val="355F8E"/>
                </a:solidFill>
                <a:latin typeface="Consolas"/>
              </a:defRPr>
            </a:pPr>
            <a:r>
              <a:t>./modules/custom/bsl_client_docs  --&gt;  /var/www/html/.../custom/...</a:t>
            </a:r>
          </a:p>
          <a:p>
            <a:pPr>
              <a:spcAft>
                <a:spcPts val="600"/>
              </a:spcAft>
              <a:defRPr sz="1500" b="1">
                <a:solidFill>
                  <a:srgbClr val="102C57"/>
                </a:solidFill>
                <a:latin typeface="Calibri"/>
              </a:defRPr>
            </a:pPr>
            <a:r>
              <a:t>Validació Tècnica d'Edició en Calent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1. Codi inicial: </a:t>
            </a:r>
            <a:r>
              <a:rPr sz="1050">
                <a:solidFill>
                  <a:srgbClr val="212529"/>
                </a:solidFill>
              </a:rPr>
              <a:t>Mòdul carregat mostrant 'versio 1'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2. docker inspect: </a:t>
            </a:r>
            <a:r>
              <a:rPr sz="1050">
                <a:solidFill>
                  <a:srgbClr val="212529"/>
                </a:solidFill>
              </a:rPr>
              <a:t>StartedAt inicial: 18:21:10Z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3. Comanda sed: </a:t>
            </a:r>
            <a:r>
              <a:rPr sz="1050">
                <a:solidFill>
                  <a:srgbClr val="212529"/>
                </a:solidFill>
              </a:rPr>
              <a:t>sed -i 's/versio 1/versio 2/' al host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4. docker inspect: </a:t>
            </a:r>
            <a:r>
              <a:rPr sz="1050">
                <a:solidFill>
                  <a:srgbClr val="212529"/>
                </a:solidFill>
              </a:rPr>
              <a:t>StartedAt idèntica: 18:21:10Z (zero reinicis)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5. Resultat web: </a:t>
            </a:r>
            <a:r>
              <a:rPr sz="1050">
                <a:solidFill>
                  <a:srgbClr val="212529"/>
                </a:solidFill>
              </a:rPr>
              <a:t>Missatge 'versio 2' immediat al navegador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846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Modificació de codi en calent des del terminal host:</a:t>
            </a:r>
          </a:p>
        </p:txBody>
      </p:sp>
      <p:pic>
        <p:nvPicPr>
          <p:cNvPr id="8" name="Picture 7" descr="sed_com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4846320" cy="3139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2377440"/>
            <a:ext cx="4846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Resultat immediat a la interfície de Drupal (versió 2):</a:t>
            </a:r>
          </a:p>
        </p:txBody>
      </p:sp>
      <p:pic>
        <p:nvPicPr>
          <p:cNvPr id="10" name="Picture 9" descr="drupal_article_create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51760"/>
            <a:ext cx="4846320" cy="25304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532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C757D"/>
                </a:solidFill>
                <a:latin typeface="Calibri"/>
              </a:defRPr>
            </a:pPr>
            <a:r>
              <a:t>Evidència real: StartedAt inalterat a docker inspect (zero reinicis de contenidor)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4. Planificació Temporal, Gantt i Repartiment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691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2C57"/>
                </a:solidFill>
                <a:latin typeface="Calibri"/>
              </a:defRPr>
            </a:pPr>
            <a:r>
              <a:t>Emilia (Rol A: PM)</a:t>
            </a:r>
          </a:p>
          <a:p>
            <a:pPr>
              <a:spcAft>
                <a:spcPts val="400"/>
              </a:spcAft>
              <a:defRPr sz="1600" b="1">
                <a:solidFill>
                  <a:srgbClr val="102C57"/>
                </a:solidFill>
                <a:latin typeface="Calibri"/>
              </a:defRPr>
            </a:pPr>
            <a:r>
              <a:t>26.7 h ponderades (33.4% del projecte)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Business Case, memòria executiva i coordinació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691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2C57"/>
                </a:solidFill>
                <a:latin typeface="Calibri"/>
              </a:defRPr>
            </a:pPr>
            <a:r>
              <a:t>Didac (Rol B: DevOps)</a:t>
            </a:r>
          </a:p>
          <a:p>
            <a:pPr>
              <a:spcAft>
                <a:spcPts val="400"/>
              </a:spcAft>
              <a:defRPr sz="1600" b="1">
                <a:solidFill>
                  <a:srgbClr val="355F8E"/>
                </a:solidFill>
                <a:latin typeface="Calibri"/>
              </a:defRPr>
            </a:pPr>
            <a:r>
              <a:t>26.8 h ponderades (33.5% del projecte)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Docker Compose, xarxes, volums i banc de proves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1691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2C57"/>
                </a:solidFill>
                <a:latin typeface="Calibri"/>
              </a:defRPr>
            </a:pPr>
            <a:r>
              <a:t>Aleix (Rol C: Dev/QA)</a:t>
            </a:r>
          </a:p>
          <a:p>
            <a:pPr>
              <a:spcAft>
                <a:spcPts val="400"/>
              </a:spcAft>
              <a:defRPr sz="1600" b="1">
                <a:solidFill>
                  <a:srgbClr val="198754"/>
                </a:solidFill>
                <a:latin typeface="Calibri"/>
              </a:defRPr>
            </a:pPr>
            <a:r>
              <a:t>26.5 h ponderades (33.1% del projecte)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Configuració Drupal, mòdul propi i 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C57"/>
                </a:solidFill>
                <a:latin typeface="Calibri"/>
              </a:defRPr>
            </a:pPr>
            <a:r>
              <a:t>CRONOGRAMA DE DESPLEGAMENT EN 16 DIES HÀBILS (80 HORES TOTALS)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931920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68496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Fase 1: Anàlisi i Requisits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931920"/>
            <a:ext cx="1828800" cy="320040"/>
          </a:xfrm>
          <a:prstGeom prst="roundRect">
            <a:avLst/>
          </a:prstGeom>
          <a:solidFill>
            <a:srgbClr val="102C57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39684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1 - 3 | Business Case i elecció Drupal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15968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52544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55F8E"/>
                </a:solidFill>
                <a:latin typeface="Calibri"/>
              </a:defRPr>
            </a:pPr>
            <a:r>
              <a:t>Fase 2: Infraestructura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4315968"/>
            <a:ext cx="1828800" cy="320040"/>
          </a:xfrm>
          <a:prstGeom prst="roundRect">
            <a:avLst/>
          </a:prstGeom>
          <a:solidFill>
            <a:srgbClr val="355F8E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435254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4 - 6 | Docker Compose i volums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00016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3659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Fase 3: Instal·lació Drupal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4700016"/>
            <a:ext cx="1828800" cy="320040"/>
          </a:xfrm>
          <a:prstGeom prst="roundRect">
            <a:avLst/>
          </a:prstGeom>
          <a:solidFill>
            <a:srgbClr val="102C57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4736592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7 - 9 | Instal·lador i MariaDB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084064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55F8E"/>
                </a:solidFill>
                <a:latin typeface="Calibri"/>
              </a:defRPr>
            </a:pPr>
            <a:r>
              <a:t>Fase 4: Mòdul bsl_client_docs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084064"/>
            <a:ext cx="1828800" cy="320040"/>
          </a:xfrm>
          <a:prstGeom prst="roundRect">
            <a:avLst/>
          </a:prstGeom>
          <a:solidFill>
            <a:srgbClr val="355F8E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120640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10 - 12 | Bind mount i edició en calent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468112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504688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98754"/>
                </a:solidFill>
                <a:latin typeface="Calibri"/>
              </a:defRPr>
            </a:pPr>
            <a:r>
              <a:t>Fase 5: Validació i QA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468112"/>
            <a:ext cx="1828800" cy="320040"/>
          </a:xfrm>
          <a:prstGeom prst="roundRect">
            <a:avLst/>
          </a:prstGeom>
          <a:solidFill>
            <a:srgbClr val="198754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504688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13 - 14 | Article NIS2 i depuració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852160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888736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Fase 6: Memòria i Presentació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5852160"/>
            <a:ext cx="1828800" cy="320040"/>
          </a:xfrm>
          <a:prstGeom prst="roundRect">
            <a:avLst/>
          </a:prstGeom>
          <a:solidFill>
            <a:srgbClr val="102C57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588873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15 - 16 | Lliurament final i defensa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5. Conclusions i Resultats del Projecte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92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2C57"/>
                </a:solidFill>
                <a:latin typeface="Calibri"/>
              </a:defRPr>
            </a:pPr>
            <a:r>
              <a:t>Fites Tècniques Assolides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Drupal 10.6.19 Desplegat
</a:t>
            </a:r>
            <a:r>
              <a:rPr sz="1000">
                <a:solidFill>
                  <a:srgbClr val="212529"/>
                </a:solidFill>
              </a:rPr>
              <a:t>Pila On-Premise operativa sobre MariaDB 10.11 i Apache 2.4.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Contingut Publicat
</a:t>
            </a:r>
            <a:r>
              <a:rPr sz="1000">
                <a:solidFill>
                  <a:srgbClr val="212529"/>
                </a:solidFill>
              </a:rPr>
              <a:t>Article sobre la directiva NIS2 creat i publicat per l'administrador.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Mòdul Propi Operatiu
</a:t>
            </a:r>
            <a:r>
              <a:rPr sz="1000">
                <a:solidFill>
                  <a:srgbClr val="212529"/>
                </a:solidFill>
              </a:rPr>
              <a:t>Extensió de traçabilitat bsl_client_docs reconeguda i provada en calent.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Persistència Assegurada
</a:t>
            </a:r>
            <a:r>
              <a:rPr sz="1000">
                <a:solidFill>
                  <a:srgbClr val="212529"/>
                </a:solidFill>
              </a:rPr>
              <a:t>Volums amb nom protegint la base de dades i fitxers públics.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Sobirania Total de Dades
</a:t>
            </a:r>
            <a:r>
              <a:rPr sz="1000">
                <a:solidFill>
                  <a:srgbClr val="212529"/>
                </a:solidFill>
              </a:rPr>
              <a:t>Arquitectura local 100% On-Premise conforme amb el RGPD.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035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upal_admin_cont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4937760" cy="257819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4480560"/>
            <a:ext cx="4937760" cy="1463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480560"/>
            <a:ext cx="109728" cy="14630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61772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98754"/>
                </a:solidFill>
                <a:latin typeface="Calibri"/>
              </a:defRPr>
            </a:pPr>
            <a:r>
              <a:t>ESTAT DEL PROJECTE: VALIDAT I LLEST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• Panell d'administració de continguts actiu amb article NIS2.</a:t>
            </a:r>
            <a:br/>
            <a:r>
              <a:t>• Banc de proves superat amb zero incidències crítiques.</a:t>
            </a:r>
            <a:br/>
            <a:r>
              <a:t>• Documentació executiva preparada per a presentació.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